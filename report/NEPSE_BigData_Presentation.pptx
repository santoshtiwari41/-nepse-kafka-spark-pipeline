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733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B2733"/>
                </a:solidFill>
                <a:latin typeface="Calibri"/>
              </a:rPr>
              <a:t>NEPSE yearly return (%), Spark SQL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NEPSE return %</c:v>
                </c:pt>
              </c:strCache>
            </c:strRef>
          </c:tx>
          <c:spPr>
            <a:solidFill>
              <a:srgbClr val="0E7C8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7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E7C8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E7C8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E7C8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8423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8423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E7C86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0E7C86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C8423B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0E7C86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0E7C86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2012</c:v>
                  </c:pt>
                  <c:pt idx="1">
                    <c:v>2013</c:v>
                  </c:pt>
                  <c:pt idx="2">
                    <c:v>2016</c:v>
                  </c:pt>
                  <c:pt idx="3">
                    <c:v>2017</c:v>
                  </c:pt>
                  <c:pt idx="4">
                    <c:v>2018</c:v>
                  </c:pt>
                  <c:pt idx="5">
                    <c:v>2020</c:v>
                  </c:pt>
                  <c:pt idx="6">
                    <c:v>2021</c:v>
                  </c:pt>
                  <c:pt idx="7">
                    <c:v>2022</c:v>
                  </c:pt>
                  <c:pt idx="8">
                    <c:v>2024</c:v>
                  </c:pt>
                  <c:pt idx="9">
                    <c:v>2025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67.6</c:v>
                </c:pt>
                <c:pt idx="1">
                  <c:v>45.2</c:v>
                </c:pt>
                <c:pt idx="2">
                  <c:v>24.3</c:v>
                </c:pt>
                <c:pt idx="3">
                  <c:v>-5.1</c:v>
                </c:pt>
                <c:pt idx="4">
                  <c:v>-17.3</c:v>
                </c:pt>
                <c:pt idx="5">
                  <c:v>78.5</c:v>
                </c:pt>
                <c:pt idx="6">
                  <c:v>16.1</c:v>
                </c:pt>
                <c:pt idx="7">
                  <c:v>-21.5</c:v>
                </c:pt>
                <c:pt idx="8">
                  <c:v>25.1</c:v>
                </c:pt>
                <c:pt idx="9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B273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8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one pipeline for live and historical NEPSE data using Kafka, Spark and HDFS.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Retail investors must combine several websites by hand.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Volume, velocity, variety, veracity, value.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Common JSON message keyed by symbol, same for live and replay.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Speed layer above, batch layer below, joined by stream-static join.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Kafka and Spark are the two main tools; HDFS is shared storage.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Medallion layout; every layer can be rebuilt from the one below.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Spark SQL with window functions; corporate action detection is the key idea.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Spark app, each query with its own HDFS checkpoint.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never depends on market hours.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 badge, KPIs, movers, sector map, Spark alerts.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Candlesticks use bonus-adjusted prices.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Numbers from sections 7.1–7.5.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Offsets in checkpoint plus exactly-once file sink. Alerts are at-least-once.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Random forest, 60 trees, depth 7; trained 2015–2024, tested 2025 onward.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TRIBHUVAN UNIVERSITY · IOE PULCHOWK CAMPUS · BIG DATA TECHNOLOGY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and Historical Analytics of the Nepal Stock Exchange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697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big data stack with Apache Kafka, Apache Spark and Hadoop HDFS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6576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Santosh Tiwari (082MSDSA024)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Arbind Sah (082MSDSA006)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36576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CA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to Basanta Joshi</a:t>
            </a: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CA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October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no single view of NEPSE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1280160"/>
            <a:ext cx="4023360" cy="1508760"/>
          </a:xfrm>
          <a:prstGeom prst="roundRect">
            <a:avLst>
              <a:gd name="adj" fmla="val 4848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monitoring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8288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prices, turnover and biggest movers for the whole market in one place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663440" y="1280160"/>
            <a:ext cx="4023360" cy="1508760"/>
          </a:xfrm>
          <a:prstGeom prst="roundRect">
            <a:avLst>
              <a:gd name="adj" fmla="val 4848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84632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Unusual activity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4846320" y="18288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alerts for volume spikes, big moves and the ±10 % circuit limit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2971800"/>
            <a:ext cx="4023360" cy="1508760"/>
          </a:xfrm>
          <a:prstGeom prst="roundRect">
            <a:avLst>
              <a:gd name="adj" fmla="val 4848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" y="3108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context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352044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today with years of data: moving averages, RSI, 52-week range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663440" y="2971800"/>
            <a:ext cx="4023360" cy="1508760"/>
          </a:xfrm>
          <a:prstGeom prst="roundRect">
            <a:avLst>
              <a:gd name="adj" fmla="val 4848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846320" y="3108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Trustworthy data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4846320" y="352044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history has bad rows and bonus-share price drops that look like crashes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457200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portals show current prices only — they cannot do any of these four things together.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is a big data problem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1887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514,018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9659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price records, 372 companies, 1995–2026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3291840" y="11887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15,142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3291840" y="19659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intraday ticks for 327 symbols in a single replayed day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126480" y="11887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rgbClr val="F2A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s</a:t>
            </a:r>
            <a:endParaRPr lang="en-US" sz="3800" dirty="0"/>
          </a:p>
        </p:txBody>
      </p:sp>
      <p:sp>
        <p:nvSpPr>
          <p:cNvPr id="9" name="Text 6"/>
          <p:cNvSpPr txBox="1"/>
          <p:nvPr/>
        </p:nvSpPr>
        <p:spPr>
          <a:xfrm>
            <a:off x="6126480" y="19659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polling interval for ~350 live symbols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2926080"/>
            <a:ext cx="4023360" cy="1737360"/>
          </a:xfrm>
          <a:prstGeom prst="roundRect">
            <a:avLst>
              <a:gd name="adj" fmla="val 4211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" y="3063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Variety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3474720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(NEPSE API), HTML tables (ShareSansar), CSV (GitHub), chart JSON (MeroLagani), JSONL recordings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663440" y="2926080"/>
            <a:ext cx="4023360" cy="1737360"/>
          </a:xfrm>
          <a:prstGeom prst="roundRect">
            <a:avLst>
              <a:gd name="adj" fmla="val 4211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846320" y="3063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84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Veracity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4846320" y="3474720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40,552 rows (8 %) with inconsistent high/low, 20 invalid rows and 731 artificial bonus/right-share price drops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sources: all public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51206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103120"/>
                <a:gridCol w="12801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1F3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nepalstock.com API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price, volume, turnover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JSON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ShareSansar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prices (fallback)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HTML table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nepse-data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OHLCV, 1995 → today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CSV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MeroLagani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NEPSE index since 2000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JSON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Company master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649 securities with sectors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Recorded sessions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 live ticks for replay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6"/>
                    </a:solidFill>
                  </a:tcPr>
                </a:tc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5852160" y="1188720"/>
            <a:ext cx="2834640" cy="2834640"/>
          </a:xfrm>
          <a:prstGeom prst="roundRect">
            <a:avLst>
              <a:gd name="adj" fmla="val 2581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6035040" y="13258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message format</a:t>
            </a:r>
            <a:endParaRPr lang="en-US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6035040" y="1737360"/>
            <a:ext cx="24688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and replay producers publish identical JSON to Kafka, keyed by symbol, so Spark never needs to know the mode.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5852160" y="41605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sample: 42 stocks, 4 MB, in the repo.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Architecture: Lambda-style pipeline</a:t>
            </a:r>
            <a:endParaRPr lang="en-US" sz="3000" dirty="0"/>
          </a:p>
        </p:txBody>
      </p:sp>
      <p:pic>
        <p:nvPicPr>
          <p:cNvPr id="4" name="Image 0" descr="Block dia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6400800" cy="3238052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7040880" y="1188720"/>
            <a:ext cx="1645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ingests live or replayed ticks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streams candles, snapshot, sector flow, alerts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batch cleans 31 years of history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HDFS Parquet holds every layer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 on top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 choices and why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286000"/>
                <a:gridCol w="45720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Chosen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not alternatives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1F3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Ingestion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E7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Kafka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Flume cannot replay; RabbitMQ deletes consumed messages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E7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Spark Structured Streaming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API for stream, batch, SQL, ML (Flink is lower-latency but separate)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E7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Spark SQL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In-memory window functions, far faster than MapReduce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E7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HDFS + Parquet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Columnar scans suit analytics better than key-value stores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Latest state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E7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Compacted Kafka topic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Avoids Redis/Cassandra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HDFS data lake: bronze, silver, gold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1188720"/>
            <a:ext cx="2651760" cy="2011680"/>
          </a:xfrm>
          <a:prstGeom prst="roundRect">
            <a:avLst>
              <a:gd name="adj" fmla="val 3636"/>
            </a:avLst>
          </a:prstGeom>
          <a:solidFill>
            <a:srgbClr val="B07A4A"/>
          </a:solidFill>
          <a:ln w="12700">
            <a:solidFill>
              <a:srgbClr val="B07A4A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1325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Bronze · raw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7830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and ticks as received, plus lineage columns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697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11.9 MB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291840" y="1188720"/>
            <a:ext cx="2651760" cy="2011680"/>
          </a:xfrm>
          <a:prstGeom prst="roundRect">
            <a:avLst>
              <a:gd name="adj" fmla="val 3636"/>
            </a:avLst>
          </a:prstGeom>
          <a:solidFill>
            <a:srgbClr val="6B7B8C"/>
          </a:solidFill>
          <a:ln w="12700">
            <a:solidFill>
              <a:srgbClr val="6B7B8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474720" y="1325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Silver · clean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3474720" y="17830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Validated, de-duplicated, OHLC-repaired, bonus-adjusted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3474720" y="2697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23.1 MB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126480" y="1188720"/>
            <a:ext cx="2651760" cy="2011680"/>
          </a:xfrm>
          <a:prstGeom prst="roundRect">
            <a:avLst>
              <a:gd name="adj" fmla="val 3636"/>
            </a:avLst>
          </a:prstGeom>
          <a:solidFill>
            <a:srgbClr val="C9961A"/>
          </a:solidFill>
          <a:ln w="12700">
            <a:solidFill>
              <a:srgbClr val="C9961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309360" y="1325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 · analytics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6309360" y="17830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Indicators, screener, sector stats, candles, alerts, ML results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6309360" y="2697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51.7 MB+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33832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2.8×</a:t>
            </a:r>
            <a:endParaRPr lang="en-US" sz="38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41605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smaller: 33 MB CSV → 11.7 MB Parquet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3291840" y="3383280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474720" y="3520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Yearly partitions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3474720" y="39319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Avoids ~3,500 tiny daily directories (small-files problem)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126480" y="3383280"/>
            <a:ext cx="2560320" cy="1280160"/>
          </a:xfrm>
          <a:prstGeom prst="roundRect">
            <a:avLst>
              <a:gd name="adj" fmla="val 5714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309360" y="3520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 1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6309360" y="393192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DataNode; raise to 3 on a real cluster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Batch layer: cleaning 31 years of data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0972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8745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rows dropped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2560320" y="10972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2560320" y="18745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 found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4663440" y="10972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40,552</a:t>
            </a:r>
            <a:endParaRPr lang="en-US" sz="3800" dirty="0"/>
          </a:p>
        </p:txBody>
      </p:sp>
      <p:sp>
        <p:nvSpPr>
          <p:cNvPr id="9" name="Text 6"/>
          <p:cNvSpPr txBox="1"/>
          <p:nvPr/>
        </p:nvSpPr>
        <p:spPr>
          <a:xfrm>
            <a:off x="4663440" y="18745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OHLC rows repaired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766560" y="10972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rgbClr val="F2A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731</a:t>
            </a:r>
            <a:endParaRPr lang="en-US" sz="3800" dirty="0"/>
          </a:p>
        </p:txBody>
      </p:sp>
      <p:sp>
        <p:nvSpPr>
          <p:cNvPr id="11" name="Text 8"/>
          <p:cNvSpPr txBox="1"/>
          <p:nvPr/>
        </p:nvSpPr>
        <p:spPr>
          <a:xfrm>
            <a:off x="6766560" y="18745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bonus/right-share adjustments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7200" y="2651760"/>
            <a:ext cx="4023360" cy="2011680"/>
          </a:xfrm>
          <a:prstGeom prst="roundRect">
            <a:avLst>
              <a:gd name="adj" fmla="val 3636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0080" y="2788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Corporate-action detection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640080" y="3200400"/>
            <a:ext cx="3657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NEPSE circuit is ±10 %, so an opening gap below −10.5 % is a bonus/right share. Earlier prices are back-adjusted.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663440" y="2651760"/>
            <a:ext cx="4023360" cy="2011680"/>
          </a:xfrm>
          <a:prstGeom prst="roundRect">
            <a:avLst>
              <a:gd name="adj" fmla="val 3636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846320" y="2788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NABIL, 2017-09-12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4846320" y="3200400"/>
            <a:ext cx="3657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1,630, opened 1,254: ratio 0.769 = 30 % bonus share. Without adjustment, moving averages treat it as a crash.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Speed layer: five Spark streaming queries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1188720"/>
            <a:ext cx="4937760" cy="566928"/>
          </a:xfrm>
          <a:prstGeom prst="roundRect">
            <a:avLst>
              <a:gd name="adj" fmla="val 9677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118872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ticks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2194560" y="118872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Exactly-once Parquet sink to bronze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1874520"/>
            <a:ext cx="4937760" cy="566928"/>
          </a:xfrm>
          <a:prstGeom prst="roundRect">
            <a:avLst>
              <a:gd name="adj" fmla="val 9677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187452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candles_1m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2194560" y="187452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1-min event-time windows, OHLC + VWAP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2560320"/>
            <a:ext cx="4937760" cy="566928"/>
          </a:xfrm>
          <a:prstGeom prst="roundRect">
            <a:avLst>
              <a:gd name="adj" fmla="val 9677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" y="256032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sector_flow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2194560" y="256032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Stream-static join, windowed by sector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3246120"/>
            <a:ext cx="4937760" cy="566928"/>
          </a:xfrm>
          <a:prstGeom prst="roundRect">
            <a:avLst>
              <a:gd name="adj" fmla="val 9677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" y="324612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live_snapshot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2194560" y="324612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state per symbol → Kafka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57200" y="3931920"/>
            <a:ext cx="4937760" cy="566928"/>
          </a:xfrm>
          <a:prstGeom prst="roundRect">
            <a:avLst>
              <a:gd name="adj" fmla="val 9677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393192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2194560" y="393192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Circuit, 3× volume spike, ≥5 % move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5760720" y="11887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s</a:t>
            </a:r>
            <a:endParaRPr lang="en-US" sz="3800" dirty="0"/>
          </a:p>
        </p:txBody>
      </p:sp>
      <p:sp>
        <p:nvSpPr>
          <p:cNvPr id="20" name="Text 17"/>
          <p:cNvSpPr txBox="1"/>
          <p:nvPr/>
        </p:nvSpPr>
        <p:spPr>
          <a:xfrm>
            <a:off x="5760720" y="19659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and alert refresh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760720" y="25603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10–20 s</a:t>
            </a:r>
            <a:endParaRPr lang="en-US" sz="3800" dirty="0"/>
          </a:p>
        </p:txBody>
      </p:sp>
      <p:sp>
        <p:nvSpPr>
          <p:cNvPr id="22" name="Text 19"/>
          <p:cNvSpPr txBox="1"/>
          <p:nvPr/>
        </p:nvSpPr>
        <p:spPr>
          <a:xfrm>
            <a:off x="5760720" y="33375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candle written after its minute closes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5760720" y="39319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Ticks are enriched with batch results (sector, 20-day volume baseline): this joins the two layers.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modes, one pipeline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1188720"/>
            <a:ext cx="2651760" cy="2743200"/>
          </a:xfrm>
          <a:prstGeom prst="roundRect">
            <a:avLst>
              <a:gd name="adj" fmla="val 2759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40080" y="137160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C8423B"/>
          </a:solidFill>
          <a:ln w="12700">
            <a:solidFill>
              <a:srgbClr val="C8423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371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920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open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37744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NEPSE API → live producer → Kafka → Spark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291840" y="1188720"/>
            <a:ext cx="2651760" cy="2743200"/>
          </a:xfrm>
          <a:prstGeom prst="roundRect">
            <a:avLst>
              <a:gd name="adj" fmla="val 2759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74720" y="137160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474720" y="1371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3474720" y="1920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closed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3474720" y="237744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or historical day replayed at e.g. 60× with fresh timestamps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126480" y="1188720"/>
            <a:ext cx="2651760" cy="2743200"/>
          </a:xfrm>
          <a:prstGeom prst="roundRect">
            <a:avLst>
              <a:gd name="adj" fmla="val 2759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309360" y="137160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309360" y="1371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6309360" y="1920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Always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6309360" y="237744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CSV → Spark batch → HDFS gold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15,142-tick day replays in about 4 minutes. Each loop is its own session, so results never mix.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Dashboard: live market tab</a:t>
            </a:r>
            <a:endParaRPr lang="en-US" sz="3000" dirty="0"/>
          </a:p>
        </p:txBody>
      </p:sp>
      <p:pic>
        <p:nvPicPr>
          <p:cNvPr id="4" name="Image 0" descr="Live ta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2818356" cy="342900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3840480" y="128016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badge shows LIVE, REPLAY or HISTORICAL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KPIs, gainers and losers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money-flow map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alerts arrive via Kafka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Refreshes every 3 seconds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Dashboard: historical analytics</a:t>
            </a:r>
            <a:endParaRPr lang="en-US" sz="3000" dirty="0"/>
          </a:p>
        </p:txBody>
      </p:sp>
      <p:pic>
        <p:nvPicPr>
          <p:cNvPr id="4" name="Image 0" descr="Stock explor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4023360" cy="3029712"/>
          </a:xfrm>
          <a:prstGeom prst="rect">
            <a:avLst/>
          </a:prstGeom>
        </p:spPr>
      </p:pic>
      <p:pic>
        <p:nvPicPr>
          <p:cNvPr id="5" name="Image 1" descr="Screen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188720"/>
            <a:ext cx="4023360" cy="232664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457200" y="42976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explorer: adjusted candles, SMA 20/50/200, Bollinger band, RSI</a:t>
            </a:r>
            <a:endParaRPr lang="en-US" sz="1200" dirty="0"/>
          </a:p>
        </p:txBody>
      </p:sp>
      <p:sp>
        <p:nvSpPr>
          <p:cNvPr id="7" name="Text 2"/>
          <p:cNvSpPr txBox="1"/>
          <p:nvPr/>
        </p:nvSpPr>
        <p:spPr>
          <a:xfrm>
            <a:off x="4663440" y="37490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Screener: filter by sector, trend, RSI signal, volume spike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Results: data, streaming, performance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97280"/>
          <a:ext cx="512064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760720" y="10972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~5.5 min</a:t>
            </a:r>
            <a:endParaRPr lang="en-US" sz="3800" dirty="0"/>
          </a:p>
        </p:txBody>
      </p:sp>
      <p:sp>
        <p:nvSpPr>
          <p:cNvPr id="6" name="Text 2"/>
          <p:cNvSpPr txBox="1"/>
          <p:nvPr/>
        </p:nvSpPr>
        <p:spPr>
          <a:xfrm>
            <a:off x="5760720" y="18745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batch layer on an 8-core laptop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5760720" y="22860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1.7 GB</a:t>
            </a:r>
            <a:endParaRPr lang="en-US" sz="3800" dirty="0"/>
          </a:p>
        </p:txBody>
      </p:sp>
      <p:sp>
        <p:nvSpPr>
          <p:cNvPr id="8" name="Text 4"/>
          <p:cNvSpPr txBox="1"/>
          <p:nvPr/>
        </p:nvSpPr>
        <p:spPr>
          <a:xfrm>
            <a:off x="5760720" y="30632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memory, whole stack idle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Hydropower led the last 30 days: NPR 43.4 bn, then banks 15.4 bn.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Fault tolerance: kill Spark mid-session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2A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15,142 / 15,142</a:t>
            </a:r>
            <a:endParaRPr lang="en-US" sz="60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103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ticks stored exactly once: nothing lost, nothing duplicated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457200" y="3017520"/>
            <a:ext cx="457200" cy="4572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051560" y="297180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C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job stopped about 1 min into a full-day replay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291840" y="3017520"/>
            <a:ext cx="457200" cy="4572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29184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3886200" y="297180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C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Ticks keep arriving in Kafka for 50 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126480" y="3017520"/>
            <a:ext cx="457200" cy="4572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12648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6720840" y="297180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C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restarts; resumes from checkpointed offsets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Bonus: Spark MLlib, an honest result</a:t>
            </a:r>
            <a:endParaRPr lang="en-US" sz="3000" dirty="0"/>
          </a:p>
        </p:txBody>
      </p:sp>
      <p:pic>
        <p:nvPicPr>
          <p:cNvPr id="4" name="Image 0" descr="MLlib resul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3931920" cy="3238052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754880" y="10972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55.8 %</a:t>
            </a:r>
            <a:endParaRPr lang="en-US" sz="38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18745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6766560" y="10972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rgbClr val="F2A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55.9 %</a:t>
            </a:r>
            <a:endParaRPr lang="en-US" sz="3800" dirty="0"/>
          </a:p>
        </p:txBody>
      </p:sp>
      <p:sp>
        <p:nvSpPr>
          <p:cNvPr id="8" name="Text 4"/>
          <p:cNvSpPr txBox="1"/>
          <p:nvPr/>
        </p:nvSpPr>
        <p:spPr>
          <a:xfrm>
            <a:off x="6766560" y="18745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always-'down' baseline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4754880" y="24688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0.519</a:t>
            </a:r>
            <a:endParaRPr lang="en-US" sz="3800" dirty="0"/>
          </a:p>
        </p:txBody>
      </p:sp>
      <p:sp>
        <p:nvSpPr>
          <p:cNvPr id="10" name="Text 6"/>
          <p:cNvSpPr txBox="1"/>
          <p:nvPr/>
        </p:nvSpPr>
        <p:spPr>
          <a:xfrm>
            <a:off x="4754880" y="32461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AUC, barely above 0.5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6766560" y="24688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64 %</a:t>
            </a:r>
            <a:endParaRPr lang="en-US" sz="3800" dirty="0"/>
          </a:p>
        </p:txBody>
      </p:sp>
      <p:sp>
        <p:nvSpPr>
          <p:cNvPr id="12" name="Text 8"/>
          <p:cNvSpPr txBox="1"/>
          <p:nvPr/>
        </p:nvSpPr>
        <p:spPr>
          <a:xfrm>
            <a:off x="6766560" y="32461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on 965 confident calls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4754880" y="393192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moves are close to random. The value is a leakage-free, time-split distributed ML pipeline.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and future work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3383280"/>
          </a:xfrm>
          <a:prstGeom prst="roundRect">
            <a:avLst>
              <a:gd name="adj" fmla="val 2162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37360"/>
            <a:ext cx="36576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83080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machine: one broker, one DataNode, one worker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shares under ~10 % not adjusted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ticks do not follow real intraday order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Unofficial NEPSE client may break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has no practical predictive power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188720"/>
            <a:ext cx="4023360" cy="3383280"/>
          </a:xfrm>
          <a:prstGeom prst="roundRect">
            <a:avLst>
              <a:gd name="adj" fmla="val 2162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4632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1737360"/>
            <a:ext cx="36576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783080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Multi-node cluster: 3 brokers, replication 3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corporate-action records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and sentiment as another stream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Compaction and Hive metastore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Watchlists and push alerts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8229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ingests live or replayed ticks; Spark processes them as a stream and as a 31-year batch; HDFS stores bronze, silver and gold Parquet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514,018 rows cleaned, a full day analysed in minutes, exactly-once recovery proven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mode lets the system be demonstrated at any time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A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· Questions?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NEPSE Big Data Project</dc:title>
  <dc:subject>PptxGenJS Presentation</dc:subject>
  <dc:creator>Santosh Tiwari, Arbind Sah</dc:creator>
  <cp:lastModifiedBy>Santosh Tiwari, Arbind Sah</cp:lastModifiedBy>
  <cp:revision>1</cp:revision>
  <dcterms:created xsi:type="dcterms:W3CDTF">2026-10-12T03:19:13Z</dcterms:created>
  <dcterms:modified xsi:type="dcterms:W3CDTF">2026-10-12T03:19:13Z</dcterms:modified>
</cp:coreProperties>
</file>